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784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896112" cy="896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18836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D89"/>
                </a:solidFill>
              </a:rPr>
              <a:t>Visualizzazione Scientifica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22219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Impact on Jobs 2030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21208" y="298094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772"/>
                </a:solidFill>
              </a:rPr>
              <a:t>Rischio di automazione, AI exposure e driver del cambiamento nel mercato del lavoro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30352" y="4069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Daniele Narisoni · Giuseppe Vellucci · Mattia Riccardi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0352" y="4617720"/>
            <a:ext cx="2926080" cy="0"/>
          </a:xfrm>
          <a:prstGeom prst="line">
            <a:avLst/>
          </a:prstGeom>
          <a:noFill/>
          <a:ln w="25400">
            <a:solidFill>
              <a:srgbClr val="1D5D8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30352" y="47914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2"/>
                </a:solidFill>
              </a:rPr>
              <a:t>Università degli Studi di Milano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35440" y="2011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103F63">
                    <a:alpha val="90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2030</a:t>
            </a:r>
            <a:endParaRPr lang="en-US" sz="5800" dirty="0"/>
          </a:p>
        </p:txBody>
      </p:sp>
      <p:sp>
        <p:nvSpPr>
          <p:cNvPr id="11" name="Text 8"/>
          <p:cNvSpPr/>
          <p:nvPr/>
        </p:nvSpPr>
        <p:spPr>
          <a:xfrm>
            <a:off x="8732520" y="3401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772"/>
                </a:solidFill>
              </a:rPr>
              <a:t>AI · lavoro · competenze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Contesto dell’analisi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12344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</a:rPr>
              <a:t>Il dataset AI Impact on Jobs 2030 è un dataset sintetico, generato artificialmente tramite Python e ispirato a dati di ricerca pubblici.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75488" y="195681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772"/>
                </a:solidFill>
              </a:rPr>
              <a:t>All’interno del dataset non è contenuto alcun dato privato su persone; i risultati sono ipotetici e non predicono con certezza il futuro.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5488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Variabili analizzate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343814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Job Title · Automation Probability 2030 · AI Exposure Index · Tech Growth Factor · Years Experience · Education Level · Sector · Salary · Skill Level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5488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Obiettivo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" y="50383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</a:rPr>
              <a:t>Capire quali fattori sono associati al rischio di automazione e quali, invece, non sembrano avere un impatto significativo.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costruito attraverso diverse fonti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Fonti utilizzate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</a:rPr>
              <a:t>O*NET (U.S. Department of Labor)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157276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A6772"/>
                </a:solidFill>
              </a:rPr>
              <a:t>Database ufficiale sulle professioni: titoli di lavoro, competenze richieste e livelli di istruzione.</a:t>
            </a:r>
            <a:endParaRPr lang="en-US" sz="1260" dirty="0"/>
          </a:p>
        </p:txBody>
      </p:sp>
      <p:sp>
        <p:nvSpPr>
          <p:cNvPr id="8" name="Shape 5"/>
          <p:cNvSpPr/>
          <p:nvPr/>
        </p:nvSpPr>
        <p:spPr>
          <a:xfrm>
            <a:off x="502920" y="2304288"/>
            <a:ext cx="429768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172200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</a:rPr>
              <a:t>Studi su automazione e AI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72200" y="157276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A6772"/>
                </a:solidFill>
              </a:rPr>
              <a:t>Utilizzati per definire i livelli di probabilità di automazione.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304288"/>
            <a:ext cx="429768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02920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</a:rPr>
              <a:t>McKinsey Global Institute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308152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A6772"/>
                </a:solidFill>
              </a:rPr>
              <a:t>Report su trasformazione del lavoro, competenze emergenti e AI exposure.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502920" y="3813048"/>
            <a:ext cx="429768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172200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</a:rPr>
              <a:t>World Economic Forum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72200" y="308152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A6772"/>
                </a:solidFill>
              </a:rPr>
              <a:t>Riferimenti per trasformazioni del mercato del lavoro e scenari futuri.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813048"/>
            <a:ext cx="429768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0292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</a:rPr>
              <a:t>LinkedIn e Glassdoor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02920" y="459028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A6772"/>
                </a:solidFill>
              </a:rPr>
              <a:t>Informazioni su salari ed esperienza lavorativa.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502920" y="5321808"/>
            <a:ext cx="429768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617220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</a:rPr>
              <a:t>Python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172200" y="459028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A6772"/>
                </a:solidFill>
              </a:rPr>
              <a:t>Utilizzato per generare simulazioni realistiche e analisi visuali.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6172200" y="5321808"/>
            <a:ext cx="429768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43BC7B-4E4A-3487-1FA7-1692372E9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059" y="1069848"/>
            <a:ext cx="654523" cy="6545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DC30C8A-F853-0823-F5BF-2959C04F2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2471209"/>
            <a:ext cx="736006" cy="7360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F544C61-83E8-562F-5090-997ACCA6B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230" y="2532888"/>
            <a:ext cx="736006" cy="7360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AA7283D-5182-8029-5E91-1C2BDDD3E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9751" y="4110249"/>
            <a:ext cx="539454" cy="53945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05CD2D7-2738-4818-AEBF-0AEB8B172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5526" y="4147038"/>
            <a:ext cx="465876" cy="4658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A668EB2-6877-B9FE-406F-E39476272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4080595"/>
            <a:ext cx="789817" cy="6292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leggere la presentazione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Percorso narrativo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16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4440" y="1197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</a:rPr>
              <a:t>Mappare il rischio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83480" y="119786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A6772"/>
                </a:solidFill>
              </a:rPr>
              <a:t>Quali lavori sono più esposti?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12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2093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</a:rPr>
              <a:t>Miti sull’AI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83480" y="2093976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A6772"/>
                </a:solidFill>
              </a:rPr>
              <a:t>Esposizione, Tech e crescita tecnologica non equivalgono a sostituzione.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008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3444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</a:rPr>
              <a:t>Variabili non decisive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83480" y="299008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A6772"/>
                </a:solidFill>
              </a:rPr>
              <a:t>Esperienza, istruzione e salario non mostrano effetti forti.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904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3444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</a:rPr>
              <a:t>Cosa conta davvero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83480" y="3886200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A6772"/>
                </a:solidFill>
              </a:rPr>
              <a:t>La natura manuale o cognitiva delle mansioni spiega meglio il rischio.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48006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34440" y="4782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</a:rPr>
              <a:t>Il ruolo delle skill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83480" y="478231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A6772"/>
                </a:solidFill>
              </a:rPr>
              <a:t>Le competenze aiutano, ma non bastano a spiegare la vulnerabilità.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4/22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tutti i lavori sono ugualmente a rischio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Professioni più esposte all’automazione</a:t>
            </a:r>
            <a:endParaRPr lang="en-US" sz="1050" dirty="0"/>
          </a:p>
        </p:txBody>
      </p:sp>
      <p:pic>
        <p:nvPicPr>
          <p:cNvPr id="7" name="Image 1" descr="/mnt/data/grafici_for_final/grafici_esame/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76920"/>
            <a:ext cx="6720840" cy="3988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372D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Retail Worker, Security Guard, Construction Worker, Customer Support e Truck Driver superano l’80% di rischio medio.
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372D"/>
                </a:solidFill>
              </a:rPr>
              <a:t>DOMANDA GUIDA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Quali caratteristiche rendono alcuni lavori più vulnerabili di altri?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9AD058C8-4F03-A44D-8302-D5FCB49B3F23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575AC596-4174-B7D7-1C34-B87943CEC61A}"/>
              </a:ext>
            </a:extLst>
          </p:cNvPr>
          <p:cNvSpPr/>
          <p:nvPr/>
        </p:nvSpPr>
        <p:spPr>
          <a:xfrm>
            <a:off x="384048" y="27255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01-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Mappare</a:t>
            </a: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 il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rischio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rischio è una caratteristica strutturale della professione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Distribuzione per fascia di rischio</a:t>
            </a:r>
            <a:endParaRPr lang="en-US" sz="1050" dirty="0"/>
          </a:p>
        </p:txBody>
      </p:sp>
      <p:pic>
        <p:nvPicPr>
          <p:cNvPr id="7" name="Image 1" descr="/mnt/data/grafici_for_final/grafici_esame/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204" y="1325880"/>
            <a:ext cx="2918529" cy="46908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372D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Alcune professioni sono quasi interamente in fascia Low, altre quasi interamente in fascia High.
• La heatmap mostra una polarizzazione molto netta tra categorie professionali.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372D"/>
                </a:solidFill>
              </a:rPr>
              <a:t>LETTURA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La professione svolta conta più delle differenze individuali interne al dataset.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9698AE1A-86C4-CD38-C225-43AFC8F1028F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7B15FEED-0274-FC80-54C1-AD6052D1911C}"/>
              </a:ext>
            </a:extLst>
          </p:cNvPr>
          <p:cNvSpPr/>
          <p:nvPr/>
        </p:nvSpPr>
        <p:spPr>
          <a:xfrm>
            <a:off x="384048" y="27255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01-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Mappare</a:t>
            </a: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 il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rischio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Niente panico: l’alto rischio riguarda una minoranza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Peso delle professioni ad alto rischio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372D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La quota High Risk è circa il 24,7% del dataset.
• Il fenomeno è reale, ma non coinvolge in modo uniforme tutto il mercato del lavoro.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372D"/>
                </a:solidFill>
              </a:rPr>
              <a:t>MESSAGGIO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Non è uno scenario catastrofico: il rischio è concentrato e va interpretato.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A1FB495-1B29-2B5D-2163-1971CA4E1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473490"/>
            <a:ext cx="5651676" cy="4693483"/>
          </a:xfrm>
          <a:prstGeom prst="rect">
            <a:avLst/>
          </a:prstGeom>
        </p:spPr>
      </p:pic>
      <p:sp>
        <p:nvSpPr>
          <p:cNvPr id="21" name="Shape 0">
            <a:extLst>
              <a:ext uri="{FF2B5EF4-FFF2-40B4-BE49-F238E27FC236}">
                <a16:creationId xmlns:a16="http://schemas.microsoft.com/office/drawing/2014/main" id="{CD0339B5-2105-BEE3-BBB7-929D2499E94A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83E8DC40-E7F2-6CB0-5F4F-61C055CC34A1}"/>
              </a:ext>
            </a:extLst>
          </p:cNvPr>
          <p:cNvSpPr/>
          <p:nvPr/>
        </p:nvSpPr>
        <p:spPr>
          <a:xfrm>
            <a:off x="384048" y="27255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01-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Mappare</a:t>
            </a: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 il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rischio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Due professioni estreme mostrano profili diversi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Lavoro a rischio minimo vs massimo</a:t>
            </a:r>
            <a:endParaRPr lang="en-US" sz="1050" dirty="0"/>
          </a:p>
        </p:txBody>
      </p:sp>
      <p:pic>
        <p:nvPicPr>
          <p:cNvPr id="7" name="Image 1" descr="/mnt/data/grafici_for_final/grafici_esame/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70141"/>
            <a:ext cx="6720840" cy="40023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372D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Il confronto normalizza variabili molto diverse: salario, esperienza, AI exposure, crescita tech e rischio.
• Serve come punto di partenza per capire quali fattori spiegano davvero il rischio.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372D"/>
                </a:solidFill>
              </a:rPr>
              <a:t>FUNZIONE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Non basta guardare un solo indicatore: bisogna analizzare i driver separatamente.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6389CED8-EEBE-0A99-23F3-CA82507C2F9E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1A85D881-D61E-0287-7115-334E31D6F3BB}"/>
              </a:ext>
            </a:extLst>
          </p:cNvPr>
          <p:cNvSpPr/>
          <p:nvPr/>
        </p:nvSpPr>
        <p:spPr>
          <a:xfrm>
            <a:off x="384048" y="27255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01-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Mappare</a:t>
            </a: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 il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rischio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lavori Tech non risultano i più vulnerabili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Tech vs Non-Tech</a:t>
            </a:r>
            <a:endParaRPr lang="en-US" sz="1050" dirty="0"/>
          </a:p>
        </p:txBody>
      </p:sp>
      <p:pic>
        <p:nvPicPr>
          <p:cNvPr id="7" name="Image 1" descr="/mnt/data/grafici_for_final/grafici_esame/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51310"/>
            <a:ext cx="6720840" cy="4440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D89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I lavori Tech hanno una mediana di rischio più bassa rispetto ai Non-Tech.
• L’AI tende spesso a supportare e trasformare le professioni tecnologiche, più che sostituirle.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5D89"/>
                </a:solidFill>
              </a:rPr>
              <a:t>MITO SFATATO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Essere vicini alla tecnologia non significa essere automaticamente sostituibili.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0BB1F26-8FA6-2A4C-D2C1-108ECEF53AC3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A10D74B2-2D63-EC4C-4A86-97F245D89AFC}"/>
              </a:ext>
            </a:extLst>
          </p:cNvPr>
          <p:cNvSpPr/>
          <p:nvPr/>
        </p:nvSpPr>
        <p:spPr>
          <a:xfrm>
            <a:off x="393192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02 – Miti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sull’AI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Più esposizione all’AI non significa più automazione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AI Exposure Index vs rischio</a:t>
            </a:r>
            <a:endParaRPr lang="en-US" sz="1050" dirty="0"/>
          </a:p>
        </p:txBody>
      </p:sp>
      <p:pic>
        <p:nvPicPr>
          <p:cNvPr id="7" name="Image 1" descr="/mnt/data/grafici_for_final/grafici_esame/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35414"/>
            <a:ext cx="6720840" cy="4671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D89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La linea di tendenza è quasi orizzontale e la correlazione è circa 0,01.
• Un lavoro può essere molto influenzato dall’AI senza essere facilmente automatizzabile.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5D89"/>
                </a:solidFill>
              </a:rPr>
              <a:t>RISULTATO CHIAVE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AI exposure misura il contatto con l’AI, non la sostituibilità del lavoratore.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5B7C8EA4-10A6-500D-4A30-37B994950CC8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52E7616B-37DE-8CA3-E3BB-2CC60BF20C8A}"/>
              </a:ext>
            </a:extLst>
          </p:cNvPr>
          <p:cNvSpPr/>
          <p:nvPr/>
        </p:nvSpPr>
        <p:spPr>
          <a:xfrm>
            <a:off x="393192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02 – Miti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sull’AI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Nurse e Customer Support: stessa esposizione, rischio diverso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Caso concreto</a:t>
            </a:r>
            <a:endParaRPr lang="en-US" sz="1050" dirty="0"/>
          </a:p>
        </p:txBody>
      </p:sp>
      <p:pic>
        <p:nvPicPr>
          <p:cNvPr id="7" name="Image 1" descr="/mnt/data/grafici_for_final/grafici_esame/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35414"/>
            <a:ext cx="6720840" cy="4671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D89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Le due professioni hanno AI Exposure simile, ma probabilità di automazione molto lontane.
• Il Customer Support è più automatizzabile perché include attività standardizzabili; il lavoro infermieristico richiede interazione umana.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5D89"/>
                </a:solidFill>
              </a:rPr>
              <a:t>INTERPRETAZIONE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Conta il ruolo che l’AI assume dentro la mansione: supporto o sostituzione.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99B4AC1F-2B6A-85E8-A705-64F1941A0890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1A678852-25C0-2FD3-6013-4FC5CFE245A0}"/>
              </a:ext>
            </a:extLst>
          </p:cNvPr>
          <p:cNvSpPr/>
          <p:nvPr/>
        </p:nvSpPr>
        <p:spPr>
          <a:xfrm>
            <a:off x="393192" y="28223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02 – Miti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sull’AI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Tecnologia in crescita ≠ rischio di automazione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Tech Growth Factor per fascia di rischio</a:t>
            </a:r>
            <a:endParaRPr lang="en-US" sz="1050" dirty="0"/>
          </a:p>
        </p:txBody>
      </p:sp>
      <p:pic>
        <p:nvPicPr>
          <p:cNvPr id="7" name="Image 1" descr="/mnt/data/grafici_for_final/grafici_esame/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35414"/>
            <a:ext cx="6720840" cy="4671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D89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Le tre categorie di rischio hanno distribuzioni molto simili.
• La crescita tecnologica modifica strumenti e competenze, ma non implica necessariamente sostituzione.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5D89"/>
                </a:solidFill>
              </a:rPr>
              <a:t>DISTINZIONE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Innovazione tecnologica e automazione del lavoro non sono sinonimi.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3C603A30-B452-73FE-109B-54951BD6732F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F0EE00FB-6F10-16DB-381F-790BB12E6BFC}"/>
              </a:ext>
            </a:extLst>
          </p:cNvPr>
          <p:cNvSpPr/>
          <p:nvPr/>
        </p:nvSpPr>
        <p:spPr>
          <a:xfrm>
            <a:off x="393192" y="27850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02 – Miti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sull’AI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L’esperienza non è uno scudo contro l’AI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Rischio medio per anni di esperienza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58A2A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Il trend resta quasi piatto intorno al 50%.
• La seniority non mostra una relazione significativa con la probabilità di automazione.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58A2A"/>
                </a:solidFill>
              </a:rPr>
              <a:t>LETTURA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Il rischio è trasversale all’anzianità lavorativa.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9968A98-CFA8-F06C-3EC3-37ED62486C78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94C5F595-8045-1D93-8F6D-1C6D1476DAB5}"/>
              </a:ext>
            </a:extLst>
          </p:cNvPr>
          <p:cNvSpPr/>
          <p:nvPr/>
        </p:nvSpPr>
        <p:spPr>
          <a:xfrm>
            <a:off x="38404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03 –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Variabili</a:t>
            </a: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 non decisive</a:t>
            </a:r>
            <a:endParaRPr lang="en-US" sz="92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A8095-8FAE-DC45-F022-169AC7B0D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08176"/>
            <a:ext cx="6397106" cy="37966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titolo di studio non determina la resilienza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Rischio per livello di istruzione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58A2A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Le mediane e la dispersione dei boxplot sono molto simili tra i livelli di studio.
• Il titolo formale, da solo, non sembra proteggere dal rischio di automazione.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58A2A"/>
                </a:solidFill>
              </a:rPr>
              <a:t>MITO SFATATO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La protezione non cresce automaticamente con gli anni di istruzione.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8346ADBE-A351-6E9A-1795-81CE7F704B41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0AEF78B3-63A6-C02A-959F-C88B09CCB971}"/>
              </a:ext>
            </a:extLst>
          </p:cNvPr>
          <p:cNvSpPr/>
          <p:nvPr/>
        </p:nvSpPr>
        <p:spPr>
          <a:xfrm>
            <a:off x="38404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03 –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Variabili</a:t>
            </a: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 non decisive</a:t>
            </a:r>
            <a:endParaRPr lang="en-US" sz="92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1FED6-7E1D-DC49-1951-80C928E49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445689"/>
            <a:ext cx="6842308" cy="40608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salario non limita la suscettibilità all’AI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Rischio medio per fascia salariale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58A2A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La linea di tendenza è sostanzialmente piatta.
• Retribuzioni più alte non corrispondono a una minore probabilità di automazione.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58A2A"/>
                </a:solidFill>
              </a:rPr>
              <a:t>MESSAGGIO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Il valore economico della professione non basta a spiegare il rischio.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4C482C2A-6269-4DB5-EAF1-986DD866BC6F}"/>
              </a:ext>
            </a:extLst>
          </p:cNvPr>
          <p:cNvSpPr/>
          <p:nvPr/>
        </p:nvSpPr>
        <p:spPr>
          <a:xfrm>
            <a:off x="0" y="-1004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1DFA70BC-8C3D-B011-AF3D-09B1FB58E7DB}"/>
              </a:ext>
            </a:extLst>
          </p:cNvPr>
          <p:cNvSpPr/>
          <p:nvPr/>
        </p:nvSpPr>
        <p:spPr>
          <a:xfrm>
            <a:off x="38404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03 – </a:t>
            </a:r>
            <a:r>
              <a:rPr lang="en-US" sz="920" b="1" dirty="0" err="1">
                <a:solidFill>
                  <a:srgbClr val="103F63"/>
                </a:solidFill>
                <a:latin typeface="Aptos" pitchFamily="34" charset="0"/>
              </a:rPr>
              <a:t>Variabili</a:t>
            </a:r>
            <a:r>
              <a:rPr lang="en-US" sz="920" b="1" dirty="0">
                <a:solidFill>
                  <a:srgbClr val="103F63"/>
                </a:solidFill>
                <a:latin typeface="Aptos" pitchFamily="34" charset="0"/>
              </a:rPr>
              <a:t> non decisive</a:t>
            </a:r>
            <a:endParaRPr lang="en-US" sz="92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E16CBA-5BD3-4F6E-2064-FE53A2B27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21" y="1554480"/>
            <a:ext cx="6903168" cy="3719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04 - Cosa conta davvero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Mansioni manuali: la prima linea del rischio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Manuale vs Cognitivo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F63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Le mansioni manuali hanno una mediana di rischio più alta.
• Isolando i ruoli “puri”, la separazione tra manuale e cognitivo diventa più chiara.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3F63"/>
                </a:solidFill>
              </a:rPr>
              <a:t>DRIVER PRINCIPALE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La natura del task è il fattore più informativo.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D07C2B-E7BD-9896-3639-0C930E6E8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554480"/>
            <a:ext cx="6478633" cy="38450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04 - Cosa conta davvero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Polarizzazione del rischio: due fasce distinte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Professioni ordinate per rischio</a:t>
            </a:r>
            <a:endParaRPr lang="en-US" sz="1050" dirty="0"/>
          </a:p>
        </p:txBody>
      </p:sp>
      <p:pic>
        <p:nvPicPr>
          <p:cNvPr id="7" name="Image 1" descr="/mnt/data/grafici_for_final/grafici_esame/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73" y="1325880"/>
            <a:ext cx="5863590" cy="46908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F63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Le professioni manuali si concentrano nella parte alta della classifica.
• Le professioni cognitive occupano soprattutto la fascia inferiore o intermedia.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3F63"/>
                </a:solidFill>
              </a:rPr>
              <a:t>SINTESI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Il mercato appare diviso in base alla natura delle attività svolte.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05 - Il ruolo delle skill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paradosso delle competenze: omogeneità sorprendente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Mappatura skill e rischio</a:t>
            </a:r>
            <a:endParaRPr lang="en-US" sz="1050" dirty="0"/>
          </a:p>
        </p:txBody>
      </p:sp>
      <p:pic>
        <p:nvPicPr>
          <p:cNvPr id="7" name="Image 1" descr="/mnt/data/grafici_for_final/grafici_esame/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09429"/>
            <a:ext cx="6720840" cy="45237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F63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Le competenze oscillano in un intervallo ristretto e non separano nettamente i lavori.
• Il rischio non sembra derivare da una semplice carenza di skill.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3F63"/>
                </a:solidFill>
              </a:rPr>
              <a:t>INDICAZIONE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Le competenze, da sole, non spiegano la vulnerabilità all’automazione.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05 - Il ruolo delle skill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nei lavori a basso e alto rischio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Profilo delle competenze</a:t>
            </a:r>
            <a:endParaRPr lang="en-US" sz="1050" dirty="0"/>
          </a:p>
        </p:txBody>
      </p:sp>
      <p:pic>
        <p:nvPicPr>
          <p:cNvPr id="7" name="Image 1" descr="/mnt/data/grafici_for_final/grafici_esame/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10539"/>
            <a:ext cx="6720840" cy="33215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F63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Alcune differenze esistono, ma non sono sufficienti a spiegare il fenomeno complessivo.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3F63"/>
                </a:solidFill>
              </a:rPr>
              <a:t>DOMANDA GIUDA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2933"/>
                </a:solidFill>
              </a:rPr>
              <a:t>Esistono</a:t>
            </a:r>
            <a:r>
              <a:rPr lang="en-US" sz="1600" b="1" dirty="0">
                <a:solidFill>
                  <a:srgbClr val="1F2933"/>
                </a:solidFill>
              </a:rPr>
              <a:t> skill </a:t>
            </a:r>
            <a:r>
              <a:rPr lang="en-US" sz="1600" b="1" dirty="0" err="1">
                <a:solidFill>
                  <a:srgbClr val="1F2933"/>
                </a:solidFill>
              </a:rPr>
              <a:t>che</a:t>
            </a:r>
            <a:r>
              <a:rPr lang="en-US" sz="1600" b="1" dirty="0">
                <a:solidFill>
                  <a:srgbClr val="1F2933"/>
                </a:solidFill>
              </a:rPr>
              <a:t> </a:t>
            </a:r>
            <a:r>
              <a:rPr lang="en-US" sz="1600" b="1" dirty="0" err="1">
                <a:solidFill>
                  <a:srgbClr val="1F2933"/>
                </a:solidFill>
              </a:rPr>
              <a:t>rendono</a:t>
            </a:r>
            <a:r>
              <a:rPr lang="en-US" sz="1600" b="1" dirty="0">
                <a:solidFill>
                  <a:srgbClr val="1F2933"/>
                </a:solidFill>
              </a:rPr>
              <a:t> </a:t>
            </a:r>
            <a:r>
              <a:rPr lang="en-US" sz="1600" b="1" dirty="0" err="1">
                <a:solidFill>
                  <a:srgbClr val="1F2933"/>
                </a:solidFill>
              </a:rPr>
              <a:t>alcuni</a:t>
            </a:r>
            <a:r>
              <a:rPr lang="en-US" sz="1600" b="1" dirty="0">
                <a:solidFill>
                  <a:srgbClr val="1F2933"/>
                </a:solidFill>
              </a:rPr>
              <a:t> </a:t>
            </a:r>
            <a:r>
              <a:rPr lang="en-US" sz="1600" b="1" dirty="0" err="1">
                <a:solidFill>
                  <a:srgbClr val="1F2933"/>
                </a:solidFill>
              </a:rPr>
              <a:t>lavori</a:t>
            </a:r>
            <a:r>
              <a:rPr lang="en-US" sz="1600" b="1" dirty="0">
                <a:solidFill>
                  <a:srgbClr val="1F2933"/>
                </a:solidFill>
              </a:rPr>
              <a:t> </a:t>
            </a:r>
            <a:r>
              <a:rPr lang="en-US" sz="1600" b="1" dirty="0" err="1">
                <a:solidFill>
                  <a:srgbClr val="1F2933"/>
                </a:solidFill>
              </a:rPr>
              <a:t>più</a:t>
            </a:r>
            <a:r>
              <a:rPr lang="en-US" sz="1600" b="1" dirty="0">
                <a:solidFill>
                  <a:srgbClr val="1F2933"/>
                </a:solidFill>
              </a:rPr>
              <a:t> </a:t>
            </a:r>
            <a:r>
              <a:rPr lang="en-US" sz="1600" b="1" dirty="0" err="1">
                <a:solidFill>
                  <a:srgbClr val="1F2933"/>
                </a:solidFill>
              </a:rPr>
              <a:t>vunerabili</a:t>
            </a:r>
            <a:r>
              <a:rPr lang="en-US" sz="1600" b="1" dirty="0">
                <a:solidFill>
                  <a:srgbClr val="1F2933"/>
                </a:solidFill>
              </a:rPr>
              <a:t> di </a:t>
            </a:r>
            <a:r>
              <a:rPr lang="en-US" sz="1600" b="1" dirty="0" err="1">
                <a:solidFill>
                  <a:srgbClr val="1F2933"/>
                </a:solidFill>
              </a:rPr>
              <a:t>altri</a:t>
            </a:r>
            <a:r>
              <a:rPr lang="en-US" sz="1600" b="1" dirty="0">
                <a:solidFill>
                  <a:srgbClr val="1F2933"/>
                </a:solidFill>
              </a:rPr>
              <a:t>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05 - Il ruolo delle skill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L’illusione della specializzazione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Composizione cumulativa delle skill</a:t>
            </a:r>
            <a:endParaRPr lang="en-US" sz="1050" dirty="0"/>
          </a:p>
        </p:txBody>
      </p:sp>
      <p:pic>
        <p:nvPicPr>
          <p:cNvPr id="7" name="Image 1" descr="/mnt/data/grafici_for_final/grafici_esame/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13812"/>
            <a:ext cx="6720840" cy="33150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F63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Le barre sono molto simili tra basso, medio e alto rischio.
• La distribuzione interna delle skill resta sostanzialmente invariata.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3F63"/>
                </a:solidFill>
              </a:rPr>
              <a:t>RISULTATO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Il rischio non dipende principalmente dalla quantità complessiva di competenze.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05 - Il ruolo delle skill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Impatto delle skill: effetto limitato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772"/>
                </a:solidFill>
              </a:rPr>
              <a:t>Differenza high risk vs low risk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52360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F63"/>
                </a:solidFill>
              </a:rPr>
              <a:t>In sintesi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52360" y="1792224"/>
            <a:ext cx="3794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• Alcune skill mostrano associazioni positive o negative con il </a:t>
            </a:r>
            <a:r>
              <a:rPr lang="en-US" sz="1400" dirty="0" err="1">
                <a:solidFill>
                  <a:srgbClr val="1F2933"/>
                </a:solidFill>
              </a:rPr>
              <a:t>rischio</a:t>
            </a:r>
            <a:r>
              <a:rPr lang="en-US" sz="1400" dirty="0">
                <a:solidFill>
                  <a:srgbClr val="1F2933"/>
                </a:solidFill>
              </a:rPr>
              <a:t>, </a:t>
            </a:r>
            <a:r>
              <a:rPr lang="en-US" sz="1400" dirty="0" err="1">
                <a:solidFill>
                  <a:srgbClr val="1F2933"/>
                </a:solidFill>
              </a:rPr>
              <a:t>anche</a:t>
            </a:r>
            <a:r>
              <a:rPr lang="en-US" sz="1400" dirty="0">
                <a:solidFill>
                  <a:srgbClr val="1F2933"/>
                </a:solidFill>
              </a:rPr>
              <a:t> se molto </a:t>
            </a:r>
            <a:r>
              <a:rPr lang="en-US" sz="1400" dirty="0" err="1">
                <a:solidFill>
                  <a:srgbClr val="1F2933"/>
                </a:solidFill>
              </a:rPr>
              <a:t>lievi</a:t>
            </a:r>
            <a:r>
              <a:rPr lang="en-US" sz="1400" dirty="0">
                <a:solidFill>
                  <a:srgbClr val="1F2933"/>
                </a:solidFill>
              </a:rPr>
              <a:t>.
• L’effetto complessivo resta però inferiore rispetto alla distinzione manuale/cognitivo.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52360" y="3566160"/>
            <a:ext cx="3794760" cy="0"/>
          </a:xfrm>
          <a:prstGeom prst="line">
            <a:avLst/>
          </a:prstGeom>
          <a:noFill/>
          <a:ln w="15240">
            <a:solidFill>
              <a:srgbClr val="E6EB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52360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3F63"/>
                </a:solidFill>
              </a:rPr>
              <a:t>CHIUSURA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452360" y="398678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Le skill non </a:t>
            </a:r>
            <a:r>
              <a:rPr lang="en-US" sz="1600" b="1" dirty="0" err="1">
                <a:solidFill>
                  <a:srgbClr val="1F2933"/>
                </a:solidFill>
              </a:rPr>
              <a:t>contano</a:t>
            </a:r>
            <a:r>
              <a:rPr lang="en-US" sz="1600" b="1" dirty="0">
                <a:solidFill>
                  <a:srgbClr val="1F2933"/>
                </a:solidFill>
              </a:rPr>
              <a:t>, il vero driver resta la natura delle attività svolte.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28086A-C982-35FE-5F02-70FA42B03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03" y="1554480"/>
            <a:ext cx="6203265" cy="37424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3F63"/>
          </a:solidFill>
          <a:ln w="12700">
            <a:solidFill>
              <a:srgbClr val="103F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56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3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influenza davvero il rischio?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Conclusioni</a:t>
            </a:r>
            <a:endParaRPr lang="en-US" sz="2400" dirty="0"/>
          </a:p>
        </p:txBody>
      </p:sp>
      <p:pic>
        <p:nvPicPr>
          <p:cNvPr id="5" name="Image 0" descr="/mnt/data/logo_unimi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19202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18872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La probabilità di automazione non dipende semplicemente dalla presenza dell’AI, dal salario o dal titolo di studio.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F63"/>
                </a:solidFill>
              </a:rPr>
              <a:t>Fattori più rilevanti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5D89"/>
                </a:solidFill>
              </a:rPr>
              <a:t>Influenza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31720" y="2560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3"/>
                </a:solidFill>
              </a:rPr>
              <a:t>Natura manuale/cognitiva delle mansioni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5D89"/>
                </a:solidFill>
              </a:rPr>
              <a:t>Influenza parziale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31720" y="3246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3"/>
                </a:solidFill>
              </a:rPr>
              <a:t>Appartenenza a specifiche famiglie professionali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F63"/>
                </a:solidFill>
              </a:rPr>
              <a:t>Fattori poco discriminanti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6634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2"/>
                </a:solidFill>
              </a:rPr>
              <a:t>• AI Exposure Index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50109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2"/>
                </a:solidFill>
              </a:rPr>
              <a:t>• Tech Growth Factor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53583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2"/>
                </a:solidFill>
              </a:rPr>
              <a:t>• Anni di esperienza, titolo di studio, salario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57058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2"/>
                </a:solidFill>
              </a:rPr>
              <a:t>• Skill considerate isolate o aggregate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31520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F63"/>
                </a:solidFill>
              </a:rPr>
              <a:t>Takeaway finale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25146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</a:rPr>
              <a:t>L’AI non colpisce “a caso”: il rischio cresce quando le attività sono ripetitive, standardizzabili e meno legate a giudizio, relazione e contesto umano.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92708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7472" y="645566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Visualizzazione Scientifica · AI Impact on Jobs 2030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1657</Words>
  <Application>Microsoft Office PowerPoint</Application>
  <PresentationFormat>Widescreen</PresentationFormat>
  <Paragraphs>246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Università degli Studi di Milano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Impact on Jobs 2030</dc:title>
  <dc:subject>AI Impact on Jobs 2030 - Visualizzazione Scientifica</dc:subject>
  <dc:creator>OpenAI</dc:creator>
  <cp:lastModifiedBy>Mattia Riccardi</cp:lastModifiedBy>
  <cp:revision>16</cp:revision>
  <dcterms:created xsi:type="dcterms:W3CDTF">2026-06-16T10:56:23Z</dcterms:created>
  <dcterms:modified xsi:type="dcterms:W3CDTF">2026-06-16T17:07:06Z</dcterms:modified>
</cp:coreProperties>
</file>